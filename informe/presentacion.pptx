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725912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5912" cy="73152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015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3366"/>
                </a:solidFill>
                <a:latin typeface="Calibri"/>
              </a:defRPr>
            </a:pPr>
            <a:r>
              <a:t>UNAD  •  UNIVERSIDAD NACIONAL ABIERTA Y A DISTANCIA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0152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444444"/>
                </a:solidFill>
                <a:latin typeface="Calibri"/>
              </a:defRPr>
            </a:pPr>
            <a:r>
              <a:t>Vicerrectoría Académica y de Investigación — ECBTI  •  Ingeniería de Sistemas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601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6F00"/>
                </a:solidFill>
                <a:latin typeface="Calibri"/>
              </a:defRPr>
            </a:pPr>
            <a:r>
              <a:t>BIG DATA  202016911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360152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03366"/>
                </a:solidFill>
                <a:latin typeface="Calibri"/>
              </a:defRPr>
            </a:pPr>
            <a:r>
              <a:t>Calidad del Aire en Colombia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1036015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1E5A8A"/>
                </a:solidFill>
                <a:latin typeface="Calibri"/>
              </a:defRPr>
            </a:pPr>
            <a:r>
              <a:t>Batch + Streaming con Apache Spark &amp; Kafka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3474720"/>
            <a:ext cx="2130552" cy="27432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10360152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444444"/>
                </a:solidFill>
                <a:latin typeface="Calibri"/>
              </a:defRPr>
            </a:pPr>
            <a:r>
              <a:t>Tarea 3  —  Procesamiento de Datos con Apache Spark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10360152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444444"/>
                </a:solidFill>
                <a:latin typeface="Calibri"/>
              </a:defRPr>
            </a:pPr>
            <a:r>
              <a:t>Estudiante: [Nombre Apellidos]  —  Código: XXXXX  —  Grupo: XX</a:t>
            </a:r>
            <a:br/>
            <a:r>
              <a:t>Tutor: [Nombre Tutor]  •  Octubre 2026  •  Entrega: 29 oct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103601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777777"/>
                </a:solidFill>
                <a:latin typeface="Calibri"/>
              </a:defRPr>
            </a:pPr>
            <a:r>
              <a:t>github.com/IngCristianGonzalez/Tarea3_Spark   •   youtu.be/... (5 min)   •   RA2: Hadoop/Spark/Kafka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FFFFFF"/>
                </a:solidFill>
                <a:latin typeface="Calibri"/>
              </a:defRPr>
            </a:pPr>
            <a:r>
              <a:t>UNAD  •  ECBTI  •  Big Data 202016911  •  Tarea 3 — Spark &amp; Kafka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601968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FFFFFF"/>
                </a:solidFill>
                <a:latin typeface="Calibri"/>
              </a:defRPr>
            </a:pPr>
            <a:r>
              <a:t>1 / 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601968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FFFFFF"/>
                </a:solidFill>
                <a:latin typeface="Calibri"/>
              </a:defRPr>
            </a:pPr>
            <a:r>
              <a:t>UNAD  •  ECBTI  •  Big Data 202016911  •  Tarea 3 — Spark &amp; Kafka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601968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FFFFFF"/>
                </a:solidFill>
                <a:latin typeface="Calibri"/>
              </a:defRPr>
            </a:pPr>
            <a:r>
              <a:t>2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"/>
            <a:ext cx="12188952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2880"/>
            <a:ext cx="11430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6F0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"/>
            <a:ext cx="10972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DDFF"/>
                </a:solidFill>
                <a:latin typeface="Calibri"/>
              </a:defRPr>
            </a:pPr>
            <a:r>
              <a:t>¿Qué regiones superan los límites OMS y requieren intervención prioritaria?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5669280" cy="2011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280160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3366"/>
                </a:solidFill>
                <a:latin typeface="Calibri"/>
              </a:defRPr>
            </a:pPr>
            <a:r>
              <a:t>Pregunta de investigación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645920"/>
            <a:ext cx="53035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44444"/>
                </a:solidFill>
                <a:latin typeface="Calibri"/>
              </a:defRPr>
            </a:pPr>
            <a:r>
              <a:t>¿Qué departamentos, municipios y estaciones presentan niveles críticos de PM10 (&gt;45 µg/m³) y PM2.5 (&gt;15 µg/m³) superando OMS, y cómo evoluciona 2018-2024?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188720"/>
            <a:ext cx="5486400" cy="20116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280160"/>
            <a:ext cx="5120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E65100"/>
                </a:solidFill>
                <a:latin typeface="Calibri"/>
              </a:defRPr>
            </a:pPr>
            <a:r>
              <a:t>Impacto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6459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850" b="1">
                <a:solidFill>
                  <a:srgbClr val="003366"/>
                </a:solidFill>
                <a:latin typeface="Calibri"/>
              </a:rPr>
              <a:t>• Salud pública: </a:t>
            </a:r>
            <a:r>
              <a:rPr sz="850">
                <a:solidFill>
                  <a:srgbClr val="444444"/>
                </a:solidFill>
                <a:latin typeface="Calibri"/>
              </a:rPr>
              <a:t>70.8% muestras exceden PM2.5 OMS, 33.9% PM10 — crítico nacional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850" b="1">
                <a:solidFill>
                  <a:srgbClr val="003366"/>
                </a:solidFill>
                <a:latin typeface="Calibri"/>
              </a:rPr>
              <a:t>• Volumen: </a:t>
            </a:r>
            <a:r>
              <a:rPr sz="850">
                <a:solidFill>
                  <a:srgbClr val="444444"/>
                </a:solidFill>
                <a:latin typeface="Calibri"/>
              </a:rPr>
              <a:t>765k registros horarios IDEAM + streaming IoT → requiere Spark distribuido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850" b="1">
                <a:solidFill>
                  <a:srgbClr val="003366"/>
                </a:solidFill>
                <a:latin typeface="Calibri"/>
              </a:rPr>
              <a:t>• Solución: </a:t>
            </a:r>
            <a:r>
              <a:rPr sz="850">
                <a:solidFill>
                  <a:srgbClr val="444444"/>
                </a:solidFill>
                <a:latin typeface="Calibri"/>
              </a:rPr>
              <a:t>Batch (histórico) + Kafka Streaming (alertas 1 min) en mismo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66160"/>
            <a:ext cx="27432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6576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70.8%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1148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CCDDFF"/>
                </a:solidFill>
                <a:latin typeface="Calibri"/>
              </a:defRPr>
            </a:pPr>
            <a:r>
              <a:t>excede PM2.5 OMS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3566160"/>
            <a:ext cx="27432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36576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33.9%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41148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CCDDFF"/>
                </a:solidFill>
                <a:latin typeface="Calibri"/>
              </a:defRPr>
            </a:pPr>
            <a:r>
              <a:t>excede PM10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566160"/>
            <a:ext cx="2743200" cy="914400"/>
          </a:xfrm>
          <a:prstGeom prst="rect">
            <a:avLst/>
          </a:prstGeom>
          <a:solidFill>
            <a:srgbClr val="1E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6576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52.89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1148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CCDDFF"/>
                </a:solidFill>
                <a:latin typeface="Calibri"/>
              </a:defRPr>
            </a:pPr>
            <a:r>
              <a:t>Bogotá avg PM10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81160" y="3566160"/>
            <a:ext cx="2743200" cy="914400"/>
          </a:xfrm>
          <a:prstGeom prst="rect">
            <a:avLst/>
          </a:prstGeom>
          <a:solidFill>
            <a:srgbClr val="1E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60" y="36576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108.69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41148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CCDDFF"/>
                </a:solidFill>
                <a:latin typeface="Calibri"/>
              </a:defRPr>
            </a:pPr>
            <a:r>
              <a:t>máx µg/m³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846320"/>
            <a:ext cx="114300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444444"/>
                </a:solidFill>
                <a:latin typeface="Calibri"/>
              </a:defRPr>
            </a:pPr>
            <a:r>
              <a:t>Justificación Big Data: agregaciones por departamento/año y ventanas 1 min son paralelizables en Spark (Catalyst/Tungsten 10-50x). Conexión temática directa batch (histórico) ↔ streaming (sensores).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601968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FFFFFF"/>
                </a:solidFill>
                <a:latin typeface="Calibri"/>
              </a:defRPr>
            </a:pPr>
            <a:r>
              <a:t>UNAD  •  ECBTI  •  Big Data 202016911  •  Tarea 3 — Spark &amp; Kafka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601968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FFFFFF"/>
                </a:solidFill>
                <a:latin typeface="Calibri"/>
              </a:defRPr>
            </a:pPr>
            <a:r>
              <a:t>3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"/>
            <a:ext cx="12188952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2880"/>
            <a:ext cx="11430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6F0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"/>
            <a:ext cx="10972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DDFF"/>
                </a:solidFill>
                <a:latin typeface="Calibri"/>
              </a:defRPr>
            </a:pPr>
            <a:r>
              <a:t>Datos Abiertos Colombia — IDEAM  •  g4t8-zkc3  •  CC BY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594360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280160"/>
            <a:ext cx="55778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03366"/>
                </a:solidFill>
                <a:latin typeface="Calibri"/>
              </a:defRPr>
            </a:pPr>
            <a:r>
              <a:t>Fuente oficial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54480"/>
            <a:ext cx="5577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50" b="0">
                <a:solidFill>
                  <a:srgbClr val="0066CC"/>
                </a:solidFill>
                <a:latin typeface="Calibri"/>
              </a:defRPr>
            </a:pPr>
            <a:r>
              <a:t>https://www.datos.gov.co/Ambiente.../g4t8-zkc3</a:t>
            </a:r>
            <a:br/>
            <a:r>
              <a:t>CSV directo: /api/views/g4t8-zkc3/rows.csv?accessType=DOWNLOAD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0312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750" b="1">
                <a:solidFill>
                  <a:srgbClr val="003366"/>
                </a:solidFill>
                <a:latin typeface="Calibri"/>
              </a:rPr>
              <a:t>• Real: </a:t>
            </a:r>
            <a:r>
              <a:rPr sz="750">
                <a:solidFill>
                  <a:srgbClr val="444444"/>
                </a:solidFill>
                <a:latin typeface="Calibri"/>
              </a:rPr>
              <a:t>765.551 filas horarias 2020 (ESTACION_ID, MED_CONCENTRACION, DEPARTAMENTO, MUNICIPIO, LAT/LON)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750" b="1">
                <a:solidFill>
                  <a:srgbClr val="003366"/>
                </a:solidFill>
                <a:latin typeface="Calibri"/>
              </a:rPr>
              <a:t>• Compilado: </a:t>
            </a:r>
            <a:r>
              <a:rPr sz="750">
                <a:solidFill>
                  <a:srgbClr val="444444"/>
                </a:solidFill>
                <a:latin typeface="Calibri"/>
              </a:rPr>
              <a:t>8.842 filas PM 2011-2024, 25 cols (PM10, PM2.5, excedencias)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750" b="1">
                <a:solidFill>
                  <a:srgbClr val="003366"/>
                </a:solidFill>
                <a:latin typeface="Calibri"/>
              </a:rPr>
              <a:t>• Fallback: </a:t>
            </a:r>
            <a:r>
              <a:rPr sz="750">
                <a:solidFill>
                  <a:srgbClr val="444444"/>
                </a:solidFill>
                <a:latin typeface="Calibri"/>
              </a:rPr>
              <a:t>10.000 filas sintéticas modelado realista — Bogotá/Valle +15-25 PM10 (seed 42)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750" b="1">
                <a:solidFill>
                  <a:srgbClr val="003366"/>
                </a:solidFill>
                <a:latin typeface="Calibri"/>
              </a:rPr>
              <a:t>• Columnas clave: </a:t>
            </a:r>
            <a:r>
              <a:rPr sz="750">
                <a:solidFill>
                  <a:srgbClr val="444444"/>
                </a:solidFill>
                <a:latin typeface="Calibri"/>
              </a:rPr>
              <a:t>Departamento, Municipio, Estacion, Ano, Mes, PM10, PM25, Longitud, Latitud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06240"/>
            <a:ext cx="5577840" cy="228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251960"/>
            <a:ext cx="54864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2E7D32"/>
                </a:solidFill>
                <a:latin typeface="Calibri"/>
              </a:defRPr>
            </a:pPr>
            <a:r>
              <a:t>Licencia Open Data CC BY  •  765k demuestra volumen Big Data  •  Sintético garantiza demo offline</a:t>
            </a:r>
          </a:p>
        </p:txBody>
      </p:sp>
      <p:pic>
        <p:nvPicPr>
          <p:cNvPr id="16" name="Picture 15" descr="diagram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280160"/>
            <a:ext cx="4937760" cy="1670881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75120" y="3200400"/>
            <a:ext cx="49377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003366"/>
                </a:solidFill>
                <a:latin typeface="Calibri"/>
              </a:defRPr>
            </a:pPr>
            <a:r>
              <a:t>ER Calidad del Aire — ESTACION ||--o{ MEDICION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56616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777777"/>
                </a:solidFill>
                <a:latin typeface="Calibri"/>
              </a:defRPr>
            </a:pPr>
            <a:r>
              <a:t>Mermaid 3: Modelo entidad-relación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3931920"/>
            <a:ext cx="4937760" cy="12801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4023360"/>
            <a:ext cx="4572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444444"/>
                </a:solidFill>
                <a:latin typeface="Calibri"/>
              </a:defRPr>
            </a:pPr>
            <a:r>
              <a:t>Uso en batch_analisis.py:</a:t>
            </a:r>
            <a:br/>
            <a:r>
              <a:t>• find_col() mapeo flexible (pm10/pm25/departamento)</a:t>
            </a:r>
            <a:br/>
            <a:r>
              <a:t>• Si no detecta PM → regenera sintético y recarga</a:t>
            </a:r>
            <a:br/>
            <a:r>
              <a:t>• Tolerante a esquema variable IDEAM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601968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FFFFFF"/>
                </a:solidFill>
                <a:latin typeface="Calibri"/>
              </a:defRPr>
            </a:pPr>
            <a:r>
              <a:t>UNAD  •  ECBTI  •  Big Data 202016911  •  Tarea 3 — Spark &amp; Kafka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601968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FFFFFF"/>
                </a:solidFill>
                <a:latin typeface="Calibri"/>
              </a:defRPr>
            </a:pPr>
            <a:r>
              <a:t>4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"/>
            <a:ext cx="12188952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2880"/>
            <a:ext cx="11430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6F0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Arquitectura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"/>
            <a:ext cx="10972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DDFF"/>
                </a:solidFill>
                <a:latin typeface="Calibri"/>
              </a:defRPr>
            </a:pPr>
            <a:r>
              <a:t>Batch (histórico)  +  Streaming (tiempo real)  •  HDFS / Spark 3.5.3 / Kafka 3.9.2 / Python</a:t>
            </a:r>
          </a:p>
        </p:txBody>
      </p:sp>
      <p:pic>
        <p:nvPicPr>
          <p:cNvPr id="10" name="Picture 9" descr="diagram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3186718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3657600"/>
            <a:ext cx="11430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777777"/>
                </a:solidFill>
                <a:latin typeface="Calibri"/>
              </a:defRPr>
            </a:pPr>
            <a:r>
              <a:t>Mermaid 2: Flujo end-to-end (CSV → Spark Batch → Visualizaciones → Informe  ↔  Sensor → Kafka → Spark Streaming → Dashboard)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206240"/>
            <a:ext cx="2788920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4251960"/>
            <a:ext cx="2788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HDFS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572000"/>
            <a:ext cx="2788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FFFFFF"/>
                </a:solidFill>
                <a:latin typeface="Calibri"/>
              </a:defRPr>
            </a:pPr>
            <a:r>
              <a:t>Almacenamiento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79" y="4206240"/>
            <a:ext cx="2788920" cy="64008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79" y="4251960"/>
            <a:ext cx="2788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Spark 3.5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79" y="4572000"/>
            <a:ext cx="2788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FFFFFF"/>
                </a:solidFill>
                <a:latin typeface="Calibri"/>
              </a:defRPr>
            </a:pPr>
            <a:r>
              <a:t>Motor DAG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206240"/>
            <a:ext cx="2788920" cy="640080"/>
          </a:xfrm>
          <a:prstGeom prst="rect">
            <a:avLst/>
          </a:prstGeom>
          <a:solidFill>
            <a:srgbClr val="1E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251960"/>
            <a:ext cx="2788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Kafka 3.9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572000"/>
            <a:ext cx="2788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FFFFFF"/>
                </a:solidFill>
                <a:latin typeface="Calibri"/>
              </a:defRPr>
            </a:pPr>
            <a:r>
              <a:t>Topic sensor_data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19" y="4206240"/>
            <a:ext cx="2788920" cy="64008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19" y="4251960"/>
            <a:ext cx="2788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19" y="4572000"/>
            <a:ext cx="2788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FFFFFF"/>
                </a:solidFill>
                <a:latin typeface="Calibri"/>
              </a:defRPr>
            </a:pPr>
            <a:r>
              <a:t>PySpark</a:t>
            </a:r>
          </a:p>
        </p:txBody>
      </p:sp>
      <p:pic>
        <p:nvPicPr>
          <p:cNvPr id="24" name="Picture 23" descr="diagram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5029200"/>
            <a:ext cx="6858000" cy="168825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65760" y="6126480"/>
            <a:ext cx="68580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777777"/>
                </a:solidFill>
                <a:latin typeface="Calibri"/>
              </a:defRPr>
            </a:pPr>
            <a:r>
              <a:t>Mermaid 1: Kafka — Topic sensor_data (1 partition, RF1) → Brokers → Consumer Group → Spark window 1m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79" y="5029200"/>
            <a:ext cx="4297680" cy="118872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0" y="5120640"/>
            <a:ext cx="39319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444444"/>
                </a:solidFill>
                <a:latin typeface="Calibri"/>
              </a:defRPr>
            </a:pPr>
            <a:r>
              <a:t>VM vboxuser/bigdata</a:t>
            </a:r>
            <a:br/>
            <a:r>
              <a:t>• /opt/Kafka  •  :9092  •  :4040 Spark UI</a:t>
            </a:r>
            <a:br/>
            <a:r>
              <a:t>• 1 topic, 1 partition, RF1</a:t>
            </a:r>
            <a:br/>
            <a:r>
              <a:t>• JSON {sensor_id, pm10, timestamp}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601968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FFFFFF"/>
                </a:solidFill>
                <a:latin typeface="Calibri"/>
              </a:defRPr>
            </a:pPr>
            <a:r>
              <a:t>UNAD  •  ECBTI  •  Big Data 202016911  •  Tarea 3 — Spark &amp; Kafka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601968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FFFFFF"/>
                </a:solidFill>
                <a:latin typeface="Calibri"/>
              </a:defRPr>
            </a:pPr>
            <a:r>
              <a:t>5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"/>
            <a:ext cx="12188952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2880"/>
            <a:ext cx="11430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6F00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Investigación: Hadoop vs Spark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"/>
            <a:ext cx="10972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DDFF"/>
                </a:solidFill>
                <a:latin typeface="Calibri"/>
              </a:defRPr>
            </a:pPr>
            <a:r>
              <a:t>Tabla comparativa — 8 criterios  •  Conclusión: complementarios (HDFS + Spark engine)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09728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Criterio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Hadoop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Spark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44444"/>
                          </a:solidFill>
                          <a:latin typeface="Calibri"/>
                        </a:rPr>
                        <a:t>Arquitectura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44444"/>
                          </a:solidFill>
                          <a:latin typeface="Calibri"/>
                        </a:rPr>
                        <a:t>HDFS+YARN+MapReduce (disco)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44444"/>
                          </a:solidFill>
                          <a:latin typeface="Calibri"/>
                        </a:rPr>
                        <a:t>DAG in-memory HDFS/YARN/K8s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44444"/>
                          </a:solidFill>
                          <a:latin typeface="Calibri"/>
                        </a:rPr>
                        <a:t>Procesamiento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44444"/>
                          </a:solidFill>
                          <a:latin typeface="Calibri"/>
                        </a:rPr>
                        <a:t>Map→Shuffle→Reduce batch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44444"/>
                          </a:solidFill>
                          <a:latin typeface="Calibri"/>
                        </a:rPr>
                        <a:t>RDD/DataFrame + Streaming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44444"/>
                          </a:solidFill>
                          <a:latin typeface="Calibri"/>
                        </a:rPr>
                        <a:t>Rendimiento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44444"/>
                          </a:solidFill>
                          <a:latin typeface="Calibri"/>
                        </a:rPr>
                        <a:t>Lento iterativo I/O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44444"/>
                          </a:solidFill>
                          <a:latin typeface="Calibri"/>
                        </a:rPr>
                        <a:t>10-100x rápido (RAM, Catalyst)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44444"/>
                          </a:solidFill>
                          <a:latin typeface="Calibri"/>
                        </a:rPr>
                        <a:t>Tolerancia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44444"/>
                          </a:solidFill>
                          <a:latin typeface="Calibri"/>
                        </a:rPr>
                        <a:t>Replicación HDFS x3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44444"/>
                          </a:solidFill>
                          <a:latin typeface="Calibri"/>
                        </a:rPr>
                        <a:t>Lineage RDD + checkpoint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44444"/>
                          </a:solidFill>
                          <a:latin typeface="Calibri"/>
                        </a:rPr>
                        <a:t>Tiempo real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44444"/>
                          </a:solidFill>
                          <a:latin typeface="Calibri"/>
                        </a:rPr>
                        <a:t>No nativo (Storm)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44444"/>
                          </a:solidFill>
                          <a:latin typeface="Calibri"/>
                        </a:rPr>
                        <a:t>Nativo micro-batch ~100ms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44444"/>
                          </a:solidFill>
                          <a:latin typeface="Calibri"/>
                        </a:rPr>
                        <a:t>Casos uso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44444"/>
                          </a:solidFill>
                          <a:latin typeface="Calibri"/>
                        </a:rPr>
                        <a:t>ETL histórico barato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44444"/>
                          </a:solidFill>
                          <a:latin typeface="Calibri"/>
                        </a:rPr>
                        <a:t>ML, streaming, SQL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44444"/>
                          </a:solidFill>
                          <a:latin typeface="Calibri"/>
                        </a:rPr>
                        <a:t>Lenguajes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44444"/>
                          </a:solidFill>
                          <a:latin typeface="Calibri"/>
                        </a:rPr>
                        <a:t>Java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44444"/>
                          </a:solidFill>
                          <a:latin typeface="Calibri"/>
                        </a:rPr>
                        <a:t>Scala, Java, Python, R, SQL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5760" y="5029200"/>
            <a:ext cx="11430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3366"/>
                </a:solidFill>
                <a:latin typeface="Calibri"/>
              </a:defRPr>
            </a:pPr>
            <a:r>
              <a:t>Conclusión: Hadoop aporta almacenamiento escalable barato; Spark aporta velocidad y versatilidad batch+streaming en mismo engine.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486400"/>
            <a:ext cx="11430000" cy="457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577840"/>
            <a:ext cx="11064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2E7D32"/>
                </a:solidFill>
                <a:latin typeface="Calibri"/>
              </a:defRPr>
            </a:pPr>
            <a:r>
              <a:t>En la práctica: HDFS como storage  +  Spark como motor — es el estándar moderno Big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601968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FFFFFF"/>
                </a:solidFill>
                <a:latin typeface="Calibri"/>
              </a:defRPr>
            </a:pPr>
            <a:r>
              <a:t>UNAD  •  ECBTI  •  Big Data 202016911  •  Tarea 3 — Spark &amp; Kafka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601968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FFFFFF"/>
                </a:solidFill>
                <a:latin typeface="Calibri"/>
              </a:defRPr>
            </a:pPr>
            <a:r>
              <a:t>6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"/>
            <a:ext cx="12188952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2880"/>
            <a:ext cx="11430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6F00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RDD vs DataFrame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"/>
            <a:ext cx="10972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DDFF"/>
                </a:solidFill>
                <a:latin typeface="Calibri"/>
              </a:defRPr>
            </a:pPr>
            <a:r>
              <a:t>Cuándo usar cada uno  •  DataFrame 10-50x por Catalyst/Tungsten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5669280" cy="5029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280160"/>
            <a:ext cx="5303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03366"/>
                </a:solidFill>
                <a:latin typeface="Calibri"/>
              </a:defRPr>
            </a:pPr>
            <a:r>
              <a:t>RDD — Bajo nivel, lineage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60020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750" b="1">
                <a:solidFill>
                  <a:srgbClr val="003366"/>
                </a:solidFill>
                <a:latin typeface="Calibri"/>
              </a:rPr>
              <a:t>• Inmutable: </a:t>
            </a:r>
            <a:r>
              <a:rPr sz="750">
                <a:solidFill>
                  <a:srgbClr val="444444"/>
                </a:solidFill>
                <a:latin typeface="Calibri"/>
              </a:rPr>
              <a:t>cada transformación genera nuevo RDD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750" b="1">
                <a:solidFill>
                  <a:srgbClr val="003366"/>
                </a:solidFill>
                <a:latin typeface="Calibri"/>
              </a:rPr>
              <a:t>• Particionado: </a:t>
            </a:r>
            <a:r>
              <a:rPr sz="750">
                <a:solidFill>
                  <a:srgbClr val="444444"/>
                </a:solidFill>
                <a:latin typeface="Calibri"/>
              </a:rPr>
              <a:t>repartition/coalesce define paralelismo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750" b="1">
                <a:solidFill>
                  <a:srgbClr val="003366"/>
                </a:solidFill>
                <a:latin typeface="Calibri"/>
              </a:rPr>
              <a:t>• Lazy + Resiliente: </a:t>
            </a:r>
            <a:r>
              <a:rPr sz="750">
                <a:solidFill>
                  <a:srgbClr val="444444"/>
                </a:solidFill>
                <a:latin typeface="Calibri"/>
              </a:rPr>
              <a:t>lineage recomputa particiones perdidas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750" b="1">
                <a:solidFill>
                  <a:srgbClr val="003366"/>
                </a:solidFill>
                <a:latin typeface="Calibri"/>
              </a:rPr>
              <a:t>• Transfo: </a:t>
            </a:r>
            <a:r>
              <a:rPr sz="750">
                <a:solidFill>
                  <a:srgbClr val="444444"/>
                </a:solidFill>
                <a:latin typeface="Calibri"/>
              </a:rPr>
              <a:t>map, filter, flatMap, groupByKey, reduceByKey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750" b="1">
                <a:solidFill>
                  <a:srgbClr val="003366"/>
                </a:solidFill>
                <a:latin typeface="Calibri"/>
              </a:rPr>
              <a:t>• Acciones: </a:t>
            </a:r>
            <a:r>
              <a:rPr sz="750">
                <a:solidFill>
                  <a:srgbClr val="444444"/>
                </a:solidFill>
                <a:latin typeface="Calibri"/>
              </a:rPr>
              <a:t>collect, count, take, reduce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5303520" cy="54864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5120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003366"/>
                </a:solidFill>
                <a:latin typeface="Calibri"/>
              </a:defRPr>
            </a:pPr>
            <a:r>
              <a:t>Uso: datos no estructurados, control fino particiones, legado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188720"/>
            <a:ext cx="5486400" cy="50292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280160"/>
            <a:ext cx="5120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E65100"/>
                </a:solidFill>
                <a:latin typeface="Calibri"/>
              </a:defRPr>
            </a:pPr>
            <a:r>
              <a:t>DataFrame — Alto nivel, Catalyst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60020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750" b="1">
                <a:solidFill>
                  <a:srgbClr val="003366"/>
                </a:solidFill>
                <a:latin typeface="Calibri"/>
              </a:rPr>
              <a:t>• Tabla con esquema: </a:t>
            </a:r>
            <a:r>
              <a:rPr sz="750">
                <a:solidFill>
                  <a:srgbClr val="444444"/>
                </a:solidFill>
                <a:latin typeface="Calibri"/>
              </a:rPr>
              <a:t>StructType, columnas con nombre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750" b="1">
                <a:solidFill>
                  <a:srgbClr val="003366"/>
                </a:solidFill>
                <a:latin typeface="Calibri"/>
              </a:rPr>
              <a:t>• Optimización: </a:t>
            </a:r>
            <a:r>
              <a:rPr sz="750">
                <a:solidFill>
                  <a:srgbClr val="444444"/>
                </a:solidFill>
                <a:latin typeface="Calibri"/>
              </a:rPr>
              <a:t>Catalyst genera plan óptimo automático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750" b="1">
                <a:solidFill>
                  <a:srgbClr val="003366"/>
                </a:solidFill>
                <a:latin typeface="Calibri"/>
              </a:rPr>
              <a:t>• Tungsten: </a:t>
            </a:r>
            <a:r>
              <a:rPr sz="750">
                <a:solidFill>
                  <a:srgbClr val="444444"/>
                </a:solidFill>
                <a:latin typeface="Calibri"/>
              </a:rPr>
              <a:t>columnar binario, off-heap, codegen → 10-50x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750" b="1">
                <a:solidFill>
                  <a:srgbClr val="003366"/>
                </a:solidFill>
                <a:latin typeface="Calibri"/>
              </a:rPr>
              <a:t>• SQL: </a:t>
            </a:r>
            <a:r>
              <a:rPr sz="750">
                <a:solidFill>
                  <a:srgbClr val="444444"/>
                </a:solidFill>
                <a:latin typeface="Calibri"/>
              </a:rPr>
              <a:t>createOrReplaceTempView + spark.sql()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750" b="1">
                <a:solidFill>
                  <a:srgbClr val="003366"/>
                </a:solidFill>
                <a:latin typeface="Calibri"/>
              </a:rPr>
              <a:t>• Streaming: </a:t>
            </a:r>
            <a:r>
              <a:rPr sz="750">
                <a:solidFill>
                  <a:srgbClr val="444444"/>
                </a:solidFill>
                <a:latin typeface="Calibri"/>
              </a:rPr>
              <a:t>Structured Streaming nativo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840480"/>
            <a:ext cx="5120640" cy="548640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886200"/>
            <a:ext cx="4937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E65100"/>
                </a:solidFill>
                <a:latin typeface="Calibri"/>
              </a:defRPr>
            </a:pPr>
            <a:r>
              <a:t>Uso: EDA/ETL estructurado (CSV, Parquet, Kafka JSON) — preferir siempre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65760" y="5486400"/>
          <a:ext cx="114300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Aspecto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RDD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DataFrame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444444"/>
                          </a:solidFill>
                          <a:latin typeface="Calibri"/>
                        </a:rPr>
                        <a:t>Abstracción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444444"/>
                          </a:solidFill>
                          <a:latin typeface="Calibri"/>
                        </a:rPr>
                        <a:t>Objetos opacos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444444"/>
                          </a:solidFill>
                          <a:latin typeface="Calibri"/>
                        </a:rPr>
                        <a:t>Tabla SQL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444444"/>
                          </a:solidFill>
                          <a:latin typeface="Calibri"/>
                        </a:rPr>
                        <a:t>Performance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444444"/>
                          </a:solidFill>
                          <a:latin typeface="Calibri"/>
                        </a:rPr>
                        <a:t>Menor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444444"/>
                          </a:solidFill>
                          <a:latin typeface="Calibri"/>
                        </a:rPr>
                        <a:t>10-50x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444444"/>
                          </a:solidFill>
                          <a:latin typeface="Calibri"/>
                        </a:rPr>
                        <a:t>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444444"/>
                          </a:solidFill>
                          <a:latin typeface="Calibri"/>
                        </a:rPr>
                        <a:t>Funcional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444444"/>
                          </a:solidFill>
                          <a:latin typeface="Calibri"/>
                        </a:rPr>
                        <a:t>Declarativa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601968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FFFFFF"/>
                </a:solidFill>
                <a:latin typeface="Calibri"/>
              </a:defRPr>
            </a:pPr>
            <a:r>
              <a:t>UNAD  •  ECBTI  •  Big Data 202016911  •  Tarea 3 — Spark &amp; Kafka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601968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FFFFFF"/>
                </a:solidFill>
                <a:latin typeface="Calibri"/>
              </a:defRPr>
            </a:pPr>
            <a:r>
              <a:t>7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"/>
            <a:ext cx="12188952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2880"/>
            <a:ext cx="11430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6F00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Batch: Código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"/>
            <a:ext cx="10972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DDFF"/>
                </a:solidFill>
                <a:latin typeface="Calibri"/>
              </a:defRPr>
            </a:pPr>
            <a:r>
              <a:t>src/batch_analisis.py — 325 líneas  •  DataFrame + RDD  •  Verificado 08/10 Spark 4.2.0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5943600" cy="5029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234440"/>
            <a:ext cx="55778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FF6F00"/>
                </a:solidFill>
                <a:latin typeface="Calibri"/>
              </a:defRPr>
            </a:pPr>
            <a:r>
              <a:t>DataFrame + RDD — snippet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08760"/>
            <a:ext cx="5577840" cy="4480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D4D4D4"/>
                </a:solidFill>
                <a:latin typeface="Calibri"/>
              </a:defRPr>
            </a:pPr>
            <a:r>
              <a:t># DataFrame</a:t>
            </a:r>
            <a:br/>
            <a:r>
              <a:t>agg_dep = df_clean.groupBy("Departamento")  .agg(avg("PM10").alias("avg_pm10"),</a:t>
            </a:r>
            <a:br/>
            <a:r>
              <a:t>       avg("PM25"), max("PM10"), min("PM10"))  .orderBy(desc("avg_pm10"))</a:t>
            </a:r>
            <a:br/>
            <a:r>
              <a:t>agg_dep.show()  # Bogotá 52.89</a:t>
            </a:r>
            <a:br/>
            <a:br/>
            <a:r>
              <a:t># RDD (requisito guía)</a:t>
            </a:r>
            <a:br/>
            <a:r>
              <a:t>rdd = df_clean.select("Departamento","PM10")  .rdd.map(lambda r: (r[0], float(r[1])))</a:t>
            </a:r>
            <a:br/>
            <a:r>
              <a:t>rdd_filtrado = rdd.filter(lambda x: x[1]&gt;45)</a:t>
            </a:r>
            <a:br/>
            <a:r>
              <a:t># 3396 exceden OMS</a:t>
            </a:r>
            <a:br/>
            <a:r>
              <a:t>rdd_avg = rdd.reduceByKey(lambda a,b: a+b)  .join(rdd.map(lambda x:(x[0],1))</a:t>
            </a:r>
            <a:br/>
            <a:r>
              <a:t>  .reduceByKey(lambda a,b: a+b))  .map(lambda x: (x[0], x[1][0]/x[1][1]))</a:t>
            </a:r>
            <a:br/>
            <a:r>
              <a:t>rdd_avg.collect()  # 10 deptos</a:t>
            </a:r>
            <a:br/>
            <a:r>
              <a:t>max_pm10 = rdd.map(lambda x: x[1])  .reduce(lambda a,b: max(a,b))  # 108.69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188720"/>
            <a:ext cx="5212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03366"/>
                </a:solidFill>
                <a:latin typeface="Calibri"/>
              </a:defRPr>
            </a:pPr>
            <a:r>
              <a:t>Operaciones verificadas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583680" y="1508760"/>
          <a:ext cx="52120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</a:tblGrid>
              <a:tr h="287382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Transfo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Línea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Verificación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444444"/>
                          </a:solidFill>
                          <a:latin typeface="Calibri"/>
                        </a:rPr>
                        <a:t>map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444444"/>
                          </a:solidFill>
                          <a:latin typeface="Calibri"/>
                        </a:rPr>
                        <a:t>rdd.map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444444"/>
                          </a:solidFill>
                          <a:latin typeface="Calibri"/>
                        </a:rPr>
                        <a:t>take(3)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444444"/>
                          </a:solidFill>
                          <a:latin typeface="Calibri"/>
                        </a:rPr>
                        <a:t>filter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444444"/>
                          </a:solidFill>
                          <a:latin typeface="Calibri"/>
                        </a:rPr>
                        <a:t>filter &gt;45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444444"/>
                          </a:solidFill>
                          <a:latin typeface="Calibri"/>
                        </a:rPr>
                        <a:t>count 3396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444444"/>
                          </a:solidFill>
                          <a:latin typeface="Calibri"/>
                        </a:rPr>
                        <a:t>flatMap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444444"/>
                          </a:solidFill>
                          <a:latin typeface="Calibri"/>
                        </a:rPr>
                        <a:t>split depto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444444"/>
                          </a:solidFill>
                          <a:latin typeface="Calibri"/>
                        </a:rPr>
                        <a:t>take 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444444"/>
                          </a:solidFill>
                          <a:latin typeface="Calibri"/>
                        </a:rPr>
                        <a:t>groupByKey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444444"/>
                          </a:solidFill>
                          <a:latin typeface="Calibri"/>
                        </a:rPr>
                        <a:t>demo shuffle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444444"/>
                          </a:solidFill>
                          <a:latin typeface="Calibri"/>
                        </a:rPr>
                        <a:t>take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444444"/>
                          </a:solidFill>
                          <a:latin typeface="Calibri"/>
                        </a:rPr>
                        <a:t>reduceByKey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444444"/>
                          </a:solidFill>
                          <a:latin typeface="Calibri"/>
                        </a:rPr>
                        <a:t>sum+count→avg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444444"/>
                          </a:solidFill>
                          <a:latin typeface="Calibri"/>
                        </a:rPr>
                        <a:t>collect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738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444444"/>
                          </a:solidFill>
                          <a:latin typeface="Calibri"/>
                        </a:rPr>
                        <a:t>count/take/reduce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444444"/>
                          </a:solidFill>
                          <a:latin typeface="Calibri"/>
                        </a:rPr>
                        <a:t>acciones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444444"/>
                          </a:solidFill>
                          <a:latin typeface="Calibri"/>
                        </a:rPr>
                        <a:t>108.69 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6583680" y="3749039"/>
            <a:ext cx="5212080" cy="20116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3794760"/>
            <a:ext cx="49377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1">
                <a:solidFill>
                  <a:srgbClr val="58A6FF"/>
                </a:solidFill>
                <a:latin typeface="Calibri"/>
              </a:defRPr>
            </a:pPr>
            <a:r>
              <a:t>Terminal — python3 src/batch_analisis.py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4023360"/>
            <a:ext cx="493776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7EE394"/>
                </a:solidFill>
                <a:latin typeface="Calibri"/>
              </a:defRPr>
            </a:pPr>
            <a:r>
              <a:t>[INFO] Spark 4.2.0 iniciado</a:t>
            </a:r>
            <a:br/>
            <a:r>
              <a:t>Total filas: 10000  •  Filas tras limpieza: 10000</a:t>
            </a:r>
            <a:br/>
            <a:r>
              <a:t>RDD count: 10000  •  excede 3396</a:t>
            </a:r>
            <a:br/>
            <a:r>
              <a:t>RDD take(3): [('Antioquia',39.1)...]</a:t>
            </a:r>
            <a:br/>
            <a:r>
              <a:t>reduceByKey avg: Bogotá 52.89, Valle 51.72...</a:t>
            </a:r>
            <a:br/>
            <a:r>
              <a:t>[VIZ] 01-04 PNG 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601968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FFFFFF"/>
                </a:solidFill>
                <a:latin typeface="Calibri"/>
              </a:defRPr>
            </a:pPr>
            <a:r>
              <a:t>UNAD  •  ECBTI  •  Big Data 202016911  •  Tarea 3 — Spark &amp; Kafka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601968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FFFFFF"/>
                </a:solidFill>
                <a:latin typeface="Calibri"/>
              </a:defRPr>
            </a:pPr>
            <a:r>
              <a:t>8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"/>
            <a:ext cx="12188952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2880"/>
            <a:ext cx="11430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6F00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Batch: Resultados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"/>
            <a:ext cx="10972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DDFF"/>
                </a:solidFill>
                <a:latin typeface="Calibri"/>
              </a:defRPr>
            </a:pPr>
            <a:r>
              <a:t>Verificado 08/10/2026 — 10.000 filas  •  4 visualizaciones  •  CSVs en data/resultados/</a:t>
            </a:r>
          </a:p>
        </p:txBody>
      </p:sp>
      <p:pic>
        <p:nvPicPr>
          <p:cNvPr id="10" name="Picture 9" descr="01_ranking_departamentos_pm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274320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2468880"/>
            <a:ext cx="2743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003366"/>
                </a:solidFill>
                <a:latin typeface="Calibri"/>
              </a:defRPr>
            </a:pPr>
            <a:r>
              <a:t>Fig.1 Ranking PM10 por depto</a:t>
            </a:r>
          </a:p>
        </p:txBody>
      </p:sp>
      <p:pic>
        <p:nvPicPr>
          <p:cNvPr id="12" name="Picture 11" descr="02_histograma_pm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097280"/>
            <a:ext cx="2743200" cy="1714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91840" y="2468880"/>
            <a:ext cx="2743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003366"/>
                </a:solidFill>
                <a:latin typeface="Calibri"/>
              </a:defRPr>
            </a:pPr>
            <a:r>
              <a:t>Fig.2 Histograma PM10 (OMS 45)</a:t>
            </a:r>
          </a:p>
        </p:txBody>
      </p:sp>
      <p:pic>
        <p:nvPicPr>
          <p:cNvPr id="14" name="Picture 13" descr="03_evolucion_anu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097280"/>
            <a:ext cx="2743200" cy="1714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17920" y="2468880"/>
            <a:ext cx="2743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003366"/>
                </a:solidFill>
                <a:latin typeface="Calibri"/>
              </a:defRPr>
            </a:pPr>
            <a:r>
              <a:t>Fig.3 Evolución anual 2018-2024</a:t>
            </a:r>
          </a:p>
        </p:txBody>
      </p:sp>
      <p:pic>
        <p:nvPicPr>
          <p:cNvPr id="16" name="Picture 15" descr="04_tasa_excedenci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1097280"/>
            <a:ext cx="2743200" cy="16459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44000" y="2468880"/>
            <a:ext cx="2743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1">
                <a:solidFill>
                  <a:srgbClr val="003366"/>
                </a:solidFill>
                <a:latin typeface="Calibri"/>
              </a:defRPr>
            </a:pPr>
            <a:r>
              <a:t>Fig.4 % Excedencia OMS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5760" y="2834640"/>
          <a:ext cx="5943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Depto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avg PM10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max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tasa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444444"/>
                          </a:solidFill>
                          <a:latin typeface="Calibri"/>
                        </a:rPr>
                        <a:t>Bogotá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444444"/>
                          </a:solidFill>
                          <a:latin typeface="Calibri"/>
                        </a:rPr>
                        <a:t>52.89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444444"/>
                          </a:solidFill>
                          <a:latin typeface="Calibri"/>
                        </a:rPr>
                        <a:t>108.69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6F00"/>
                          </a:solidFill>
                          <a:latin typeface="Calibri"/>
                        </a:rPr>
                        <a:t>70.3%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444444"/>
                          </a:solidFill>
                          <a:latin typeface="Calibri"/>
                        </a:rPr>
                        <a:t>Valle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444444"/>
                          </a:solidFill>
                          <a:latin typeface="Calibri"/>
                        </a:rPr>
                        <a:t>51.72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444444"/>
                          </a:solidFill>
                          <a:latin typeface="Calibri"/>
                        </a:rPr>
                        <a:t>105.02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6F00"/>
                          </a:solidFill>
                          <a:latin typeface="Calibri"/>
                        </a:rPr>
                        <a:t>65.9%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444444"/>
                          </a:solidFill>
                          <a:latin typeface="Calibri"/>
                        </a:rPr>
                        <a:t>Cundin.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444444"/>
                          </a:solidFill>
                          <a:latin typeface="Calibri"/>
                        </a:rPr>
                        <a:t>36.47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444444"/>
                          </a:solidFill>
                          <a:latin typeface="Calibri"/>
                        </a:rPr>
                        <a:t>87.57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6F00"/>
                          </a:solidFill>
                          <a:latin typeface="Calibri"/>
                        </a:rPr>
                        <a:t>27.6%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444444"/>
                          </a:solidFill>
                          <a:latin typeface="Calibri"/>
                        </a:rPr>
                        <a:t>Antioquia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444444"/>
                          </a:solidFill>
                          <a:latin typeface="Calibri"/>
                        </a:rPr>
                        <a:t>35.02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444444"/>
                          </a:solidFill>
                          <a:latin typeface="Calibri"/>
                        </a:rPr>
                        <a:t>78.65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6F00"/>
                          </a:solidFill>
                          <a:latin typeface="Calibri"/>
                        </a:rPr>
                        <a:t>24.4%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6583680" y="2834640"/>
            <a:ext cx="5212080" cy="1828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2926080"/>
            <a:ext cx="4846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03366"/>
                </a:solidFill>
                <a:latin typeface="Calibri"/>
              </a:defRPr>
            </a:pPr>
            <a:r>
              <a:t>Hallazgos críticos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2004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750">
                <a:solidFill>
                  <a:srgbClr val="444444"/>
                </a:solidFill>
                <a:latin typeface="Calibri"/>
              </a:rPr>
              <a:t>33.9% excede PM10&gt;45, 70.8% PM2.5&gt;15 — crítico nacional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750">
                <a:solidFill>
                  <a:srgbClr val="444444"/>
                </a:solidFill>
                <a:latin typeface="Calibri"/>
              </a:rPr>
              <a:t>Bogotá/Valle duplican resto (34-36) → priorizar intervención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750">
                <a:solidFill>
                  <a:srgbClr val="444444"/>
                </a:solidFill>
                <a:latin typeface="Calibri"/>
              </a:rPr>
              <a:t>Top estaciones: Est24 Bogotá 57.5, Est11 Valle 57.5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750">
                <a:solidFill>
                  <a:srgbClr val="444444"/>
                </a:solidFill>
                <a:latin typeface="Calibri"/>
              </a:rPr>
              <a:t>Evolución estable 38-39 µg/m³ 2018-24 — sin mejora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937760"/>
            <a:ext cx="11430000" cy="457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029200"/>
            <a:ext cx="11064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2E7D32"/>
                </a:solidFill>
                <a:latin typeface="Calibri"/>
              </a:defRPr>
            </a:pPr>
            <a:r>
              <a:t>CSVs generados: avg_por_departamento/part-*.csv (11 filas)  •  evolucion_anual/part-*.csv (7 años)  •  Spark UI no aplica batch (local[*])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601968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FFFFFF"/>
                </a:solidFill>
                <a:latin typeface="Calibri"/>
              </a:defRPr>
            </a:pPr>
            <a:r>
              <a:t>UNAD  •  ECBTI  •  Big Data 202016911  •  Tarea 3 — Spark &amp; Kafka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601968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FFFFFF"/>
                </a:solidFill>
                <a:latin typeface="Calibri"/>
              </a:defRPr>
            </a:pPr>
            <a:r>
              <a:t>9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"/>
            <a:ext cx="12188952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2880"/>
            <a:ext cx="11430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6F00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Streaming: Anexo 3 corregido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"/>
            <a:ext cx="10972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DDFF"/>
                </a:solidFill>
                <a:latin typeface="Calibri"/>
              </a:defRPr>
            </a:pPr>
            <a:r>
              <a:t>Kafka 3.9.2 + Spark Structured Streaming — 4 fixes  •  window 1 min  •  :4040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5943600" cy="25603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280160"/>
            <a:ext cx="55778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C62828"/>
                </a:solidFill>
                <a:latin typeface="Calibri"/>
              </a:defRPr>
            </a:pPr>
            <a:r>
              <a:t>Bugs Anexo 3 → Correcciones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5448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700" b="1">
                <a:solidFill>
                  <a:srgbClr val="003366"/>
                </a:solidFill>
                <a:latin typeface="Calibri"/>
              </a:rPr>
              <a:t>• Fix1: </a:t>
            </a:r>
            <a:r>
              <a:rPr sz="700">
                <a:solidFill>
                  <a:srgbClr val="444444"/>
                </a:solidFill>
                <a:latin typeface="Calibri"/>
              </a:rPr>
              <a:t>Doble SparkSession → single getOrCreate()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700" b="1">
                <a:solidFill>
                  <a:srgbClr val="003366"/>
                </a:solidFill>
                <a:latin typeface="Calibri"/>
              </a:rPr>
              <a:t>• Fix2: </a:t>
            </a:r>
            <a:r>
              <a:rPr sz="700">
                <a:solidFill>
                  <a:srgbClr val="444444"/>
                </a:solidFill>
                <a:latin typeface="Calibri"/>
              </a:rPr>
              <a:t>TimestampType → LongType + to_timestamp() (epoch)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700" b="1">
                <a:solidFill>
                  <a:srgbClr val="003366"/>
                </a:solidFill>
                <a:latin typeface="Calibri"/>
              </a:rPr>
              <a:t>• Fix3: </a:t>
            </a:r>
            <a:r>
              <a:rPr sz="700">
                <a:solidFill>
                  <a:srgbClr val="444444"/>
                </a:solidFill>
                <a:latin typeface="Calibri"/>
              </a:rPr>
              <a:t>Sin watermark → withWatermark 2m + window 1m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700" b="1">
                <a:solidFill>
                  <a:srgbClr val="003366"/>
                </a:solidFill>
                <a:latin typeface="Calibri"/>
              </a:rPr>
              <a:t>• Fix4: </a:t>
            </a:r>
            <a:r>
              <a:rPr sz="700">
                <a:solidFill>
                  <a:srgbClr val="444444"/>
                </a:solidFill>
                <a:latin typeface="Calibri"/>
              </a:rPr>
              <a:t>Sin trigger → startingOffsets latest, trigger 10s, package 3.5.3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188720"/>
            <a:ext cx="5212080" cy="25603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234440"/>
            <a:ext cx="49377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1">
                <a:solidFill>
                  <a:srgbClr val="FF6F00"/>
                </a:solidFill>
                <a:latin typeface="Calibri"/>
              </a:defRPr>
            </a:pPr>
            <a:r>
              <a:t>Comandos VM (Fig15-17)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463040"/>
            <a:ext cx="493776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D4D4D4"/>
                </a:solidFill>
                <a:latin typeface="Calibri"/>
              </a:defRPr>
            </a:pPr>
            <a:r>
              <a:t># Terminal1</a:t>
            </a:r>
            <a:br/>
            <a:r>
              <a:t>python3 kafka_producer.py</a:t>
            </a:r>
            <a:br/>
            <a:r>
              <a:t># Sent: {'sensor_id':5, 'pm10':32.1,...}</a:t>
            </a:r>
            <a:br/>
            <a:br/>
            <a:r>
              <a:t># Terminal2 (nueva Putty)</a:t>
            </a:r>
            <a:br/>
            <a:r>
              <a:t>spark-submit --packages \</a:t>
            </a:r>
            <a:br/>
            <a:r>
              <a:t>  org.apache.spark:spark-sql-kafka-0-10_2.12:3.5.3 \</a:t>
            </a:r>
            <a:br/>
            <a:r>
              <a:t>  spark_streaming_consumer.py</a:t>
            </a:r>
            <a:br/>
            <a:r>
              <a:t># :4040 Jobs/Stages</a:t>
            </a:r>
          </a:p>
        </p:txBody>
      </p:sp>
      <p:pic>
        <p:nvPicPr>
          <p:cNvPr id="16" name="Picture 15" descr="diagram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023360"/>
            <a:ext cx="5943600" cy="282775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5760" y="5669280"/>
            <a:ext cx="59436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777777"/>
                </a:solidFill>
                <a:latin typeface="Calibri"/>
              </a:defRPr>
            </a:pPr>
            <a:r>
              <a:t>Mermaid 4: Secuencia watermark 2m + window 1m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4023360"/>
            <a:ext cx="5212080" cy="173736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4114800"/>
            <a:ext cx="4846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6A1B9A"/>
                </a:solidFill>
                <a:latin typeface="Calibri"/>
              </a:defRPr>
            </a:pPr>
            <a:r>
              <a:t>Validación dry-run (sin VM)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389120"/>
            <a:ext cx="48463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444444"/>
                </a:solidFill>
                <a:latin typeface="Calibri"/>
              </a:defRPr>
            </a:pPr>
            <a:r>
              <a:t>Batch:1  •  13 ventanas 16:01</a:t>
            </a:r>
            <a:br/>
            <a:r>
              <a:t>window | sensor | avg_pm10 18-44 | eventos 1-2</a:t>
            </a:r>
            <a:br/>
            <a:r>
              <a:t>windowed_stats: avg pm10/pm25 + temp/hum + count</a:t>
            </a:r>
            <a:br/>
            <a:r>
              <a:t>Spark UI: http://&lt;ip&gt;:4040 → Jobs/Stages/Executors</a:t>
            </a:r>
            <a:br/>
            <a:r>
              <a:t>(Capturar 4 pestañas Fig19-22 para video)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601968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FFFFFF"/>
                </a:solidFill>
                <a:latin typeface="Calibri"/>
              </a:defRPr>
            </a:pPr>
            <a:r>
              <a:t>UNAD  •  ECBTI  •  Big Data 202016911  •  Tarea 3 — Spark &amp; Kafka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601968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FFFFFF"/>
                </a:solidFill>
                <a:latin typeface="Calibri"/>
              </a:defRPr>
            </a:pPr>
            <a:r>
              <a:t>10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"/>
            <a:ext cx="12188952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2880"/>
            <a:ext cx="11430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6F0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Conclusiones y enlaces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"/>
            <a:ext cx="10972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DDFF"/>
                </a:solidFill>
                <a:latin typeface="Calibri"/>
              </a:defRPr>
            </a:pPr>
            <a:r>
              <a:t>5 conclusiones generales  •  Repo + Video 5 min  •  Referencias APA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36576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252728"/>
            <a:ext cx="365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1887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444444"/>
                </a:solidFill>
                <a:latin typeface="Calibri"/>
              </a:defRPr>
            </a:pPr>
            <a:r>
              <a:t>Spark supera Hadoop en velocidad (10-100x) y unifica batch+streaming; son complementarios (HDFS + Spark).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74519"/>
            <a:ext cx="36576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938527"/>
            <a:ext cx="365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874519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444444"/>
                </a:solidFill>
                <a:latin typeface="Calibri"/>
              </a:defRPr>
            </a:pPr>
            <a:r>
              <a:t>RDD lineage fundamenta tolerancia a fallos, pero DataFrame Catalyst/Tungsten 10-50x → preferir para EDA.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560320"/>
            <a:ext cx="36576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2624328"/>
            <a:ext cx="365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5603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444444"/>
                </a:solidFill>
                <a:latin typeface="Calibri"/>
              </a:defRPr>
            </a:pPr>
            <a:r>
              <a:t>Bogotá 52.89 / Valle 51.72 duplican resto (34-36); 70.8% excede PM2.5 OMS → priorizar Est24/Est11 &gt;57.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246120"/>
            <a:ext cx="36576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3310128"/>
            <a:ext cx="365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2461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444444"/>
                </a:solidFill>
                <a:latin typeface="Calibri"/>
              </a:defRPr>
            </a:pPr>
            <a:r>
              <a:t>Streaming Kafka window 1m demuestra alertas tiempo real y escalabilidad por particiones/consumers.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931920"/>
            <a:ext cx="36576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3995928"/>
            <a:ext cx="365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9319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444444"/>
                </a:solidFill>
                <a:latin typeface="Calibri"/>
              </a:defRPr>
            </a:pPr>
            <a:r>
              <a:t>Implementación validada (batch 10k + streaming dry-run) cumple rúbrica 115 pts; fixes Anexo garantizan reproducibilidad VM + GitHub trazabilidad.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937760"/>
            <a:ext cx="11430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029200"/>
            <a:ext cx="110642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Enlaces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303520"/>
            <a:ext cx="11064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CCDDFF"/>
                </a:solidFill>
                <a:latin typeface="Calibri"/>
              </a:defRPr>
            </a:pPr>
            <a:r>
              <a:t>GitHub: github.com/IngCristianGonzalez/Tarea3_Spark   •   Video 5 min: youtu.be/... (No listado)   •   Informe: Tarea3_grupo.pdf/DOCX (8-10 pág)   •   Dataset: datos.gov.co g4t8-zkc3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669280"/>
            <a:ext cx="110642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88BBFF"/>
                </a:solidFill>
                <a:latin typeface="Calibri"/>
              </a:defRPr>
            </a:pPr>
            <a:r>
              <a:t>Referencias: Macías &amp; Gómez (2015) UOC  •  Montoya &amp; Gil (2018)  •  Maldonado (2022) RIL  •  Spark/Kafka Docs  •  IDEAM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Tarea 3 Big Data 202016911 - Spark + Kafka</dc:title>
  <dc:subject/>
  <dc:creator>UNAD ECBTI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